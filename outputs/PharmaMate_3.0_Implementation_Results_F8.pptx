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9d5f0317ae4cfa" /><Relationship Type="http://schemas.openxmlformats.org/officeDocument/2006/relationships/extended-properties" Target="/docProps/app.xml" Id="Rf8bd8e6076554fd2" /><Relationship Type="http://schemas.openxmlformats.org/officeDocument/2006/relationships/officeDocument" Target="/ppt/presentation.xml" Id="Rc5020021a24b4e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008d2df65e4d55"/>
  </p:sldMasterIdLst>
  <p:notesMasterIdLst>
    <p:notesMasterId xmlns:r="http://schemas.openxmlformats.org/officeDocument/2006/relationships" r:id="R9b15340d3a6a4811"/>
  </p:notesMasterIdLst>
  <p:sldIdLst>
    <p:sldId xmlns:r="http://schemas.openxmlformats.org/officeDocument/2006/relationships" id="256" r:id="Ra06647bc59194a3e"/>
    <p:sldId xmlns:r="http://schemas.openxmlformats.org/officeDocument/2006/relationships" id="257" r:id="Ra580c839eb2340c1"/>
    <p:sldId xmlns:r="http://schemas.openxmlformats.org/officeDocument/2006/relationships" id="258" r:id="R0396642d7cdc464e"/>
    <p:sldId xmlns:r="http://schemas.openxmlformats.org/officeDocument/2006/relationships" id="259" r:id="R7a9963b9200a46aa"/>
    <p:sldId xmlns:r="http://schemas.openxmlformats.org/officeDocument/2006/relationships" id="260" r:id="R1c5c23f5e675430d"/>
    <p:sldId xmlns:r="http://schemas.openxmlformats.org/officeDocument/2006/relationships" id="261" r:id="Rc9330eca58784c2c"/>
    <p:sldId xmlns:r="http://schemas.openxmlformats.org/officeDocument/2006/relationships" id="262" r:id="Reb0b9bff1619480f"/>
    <p:sldId xmlns:r="http://schemas.openxmlformats.org/officeDocument/2006/relationships" id="263" r:id="R4074368bc05c48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ef6c052a404434" /><Relationship Type="http://schemas.openxmlformats.org/officeDocument/2006/relationships/slideMaster" Target="/ppt/slideMasters/slideMaster1.xml" Id="R5a008d2df65e4d55" /><Relationship Type="http://schemas.openxmlformats.org/officeDocument/2006/relationships/notesMaster" Target="/ppt/notesMasters/notesMaster1.xml" Id="R9b15340d3a6a4811" /><Relationship Type="http://schemas.openxmlformats.org/officeDocument/2006/relationships/presProps" Target="/ppt/presProps.xml" Id="R1d9f7a4a510c4869" /><Relationship Type="http://schemas.openxmlformats.org/officeDocument/2006/relationships/tableStyles" Target="/ppt/tableStyles.xml" Id="R1a925b538565438a" /><Relationship Type="http://schemas.openxmlformats.org/officeDocument/2006/relationships/slide" Target="/ppt/slides/slide1.xml" Id="Ra06647bc59194a3e" /><Relationship Type="http://schemas.openxmlformats.org/officeDocument/2006/relationships/slide" Target="/ppt/slides/slide2.xml" Id="Ra580c839eb2340c1" /><Relationship Type="http://schemas.openxmlformats.org/officeDocument/2006/relationships/slide" Target="/ppt/slides/slide3.xml" Id="R0396642d7cdc464e" /><Relationship Type="http://schemas.openxmlformats.org/officeDocument/2006/relationships/slide" Target="/ppt/slides/slide4.xml" Id="R7a9963b9200a46aa" /><Relationship Type="http://schemas.openxmlformats.org/officeDocument/2006/relationships/slide" Target="/ppt/slides/slide5.xml" Id="R1c5c23f5e675430d" /><Relationship Type="http://schemas.openxmlformats.org/officeDocument/2006/relationships/slide" Target="/ppt/slides/slide6.xml" Id="Rc9330eca58784c2c" /><Relationship Type="http://schemas.openxmlformats.org/officeDocument/2006/relationships/slide" Target="/ppt/slides/slide7.xml" Id="Reb0b9bff1619480f" /><Relationship Type="http://schemas.openxmlformats.org/officeDocument/2006/relationships/slide" Target="/ppt/slides/slide8.xml" Id="R4074368bc05c48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9219cee24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c7e31afd2a4de9" /><Relationship Type="http://schemas.openxmlformats.org/officeDocument/2006/relationships/notesMaster" Target="/ppt/notesMasters/notesMaster1.xml" Id="Ra5ac47cc4ba74e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da3def00d4563" /><Relationship Type="http://schemas.openxmlformats.org/officeDocument/2006/relationships/notesMaster" Target="/ppt/notesMasters/notesMaster1.xml" Id="R223667b565ce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928f1717ae4239" /><Relationship Type="http://schemas.openxmlformats.org/officeDocument/2006/relationships/notesMaster" Target="/ppt/notesMasters/notesMaster1.xml" Id="Re7b8f8788872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d5fd9d0b4d47ba" /><Relationship Type="http://schemas.openxmlformats.org/officeDocument/2006/relationships/notesMaster" Target="/ppt/notesMasters/notesMaster1.xml" Id="R1797066c85c14f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0b46535cd2497d" /><Relationship Type="http://schemas.openxmlformats.org/officeDocument/2006/relationships/notesMaster" Target="/ppt/notesMasters/notesMaster1.xml" Id="Rf16521e504414e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b323f193cd4e3d" /><Relationship Type="http://schemas.openxmlformats.org/officeDocument/2006/relationships/notesMaster" Target="/ppt/notesMasters/notesMaster1.xml" Id="Rc1b9f52de01a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37eccf6e6c4daa" /><Relationship Type="http://schemas.openxmlformats.org/officeDocument/2006/relationships/notesMaster" Target="/ppt/notesMasters/notesMaster1.xml" Id="R97d11553254c4f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c3518471b4db3" /><Relationship Type="http://schemas.openxmlformats.org/officeDocument/2006/relationships/notesMaster" Target="/ppt/notesMasters/notesMaster1.xml" Id="R08c4bacbffa3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b3295bbe24a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74c0bbbb5c4055" /><Relationship Type="http://schemas.openxmlformats.org/officeDocument/2006/relationships/slideLayout" Target="/ppt/slideLayouts/slideLayout1.xml" Id="R1ec2b72ab60d45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c2b72ab60d45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8056f153c45c5" /><Relationship Type="http://schemas.openxmlformats.org/officeDocument/2006/relationships/notesSlide" Target="/ppt/notesSlides/notesSlide1.xml" Id="Rba26336a9e5746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15155e45b4293" /><Relationship Type="http://schemas.openxmlformats.org/officeDocument/2006/relationships/notesSlide" Target="/ppt/notesSlides/notesSlide2.xml" Id="R507734c2e2f5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c227342964a26" /><Relationship Type="http://schemas.openxmlformats.org/officeDocument/2006/relationships/notesSlide" Target="/ppt/notesSlides/notesSlide3.xml" Id="R298f3ec4390244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3ea96184f4522" /><Relationship Type="http://schemas.openxmlformats.org/officeDocument/2006/relationships/notesSlide" Target="/ppt/notesSlides/notesSlide4.xml" Id="R7908259cbe484d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5b370c23b4d92" /><Relationship Type="http://schemas.openxmlformats.org/officeDocument/2006/relationships/notesSlide" Target="/ppt/notesSlides/notesSlide5.xml" Id="Rb66f98281055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8938d88f6429e" /><Relationship Type="http://schemas.openxmlformats.org/officeDocument/2006/relationships/notesSlide" Target="/ppt/notesSlides/notesSlide6.xml" Id="R07cc8dfd9fd641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9176e866049c9" /><Relationship Type="http://schemas.openxmlformats.org/officeDocument/2006/relationships/notesSlide" Target="/ppt/notesSlides/notesSlide7.xml" Id="R786ee38741c4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7e8595838449f" /><Relationship Type="http://schemas.openxmlformats.org/officeDocument/2006/relationships/notesSlide" Target="/ppt/notesSlides/notesSlide8.xml" Id="R39962249d3854d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11BE1CEB-B298-4178-86EB-D7BE0FEA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학습 기록을 찾고
답변 근거를 검증하다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DF32CB4-FE1A-4703-9642-9F758C3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F0–F8 구현 결과 · 2026.10</a:t>
            </a:r>
          </a:p>
          <a:p xmlns:a="http://schemas.openxmlformats.org/drawingml/2006/main">
            <a:pPr algn="l"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원본 2.2 기준선 → 3.0 후보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211F81A-56C2-4049-802B-EA325967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PharmaMate 3.0</a:t>
            </a:r>
          </a:p>
        </p:txBody>
      </p:sp>
    </p:spTree>
    <p:extLst>
      <p:ext uri="{BB962C8B-B14F-4D97-AF65-F5344CB8AC3E}">
        <p14:creationId xmlns:p14="http://schemas.microsoft.com/office/powerpoint/2010/main" val="8232968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A98F09E-D983-4B44-B14B-354CE63D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CA7CFB7-66E0-47DE-9879-E2469DB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기능은 모듈화했고 Vue·FastAPI 단일 앱으로 연결했습니다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6CFA93-6CD0-4243-BB9D-C5F7B8DA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LangGraph Agent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Router·Memory·Web·Answer·Validator를 graph.py에서 연결하고, memory+web은 병렬 실행합니다.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3045E71-B6A2-482E-8F65-43F1E7FF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개인 학습 RAG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SQLite 원본과 파생 벡터 인덱스를 함께 쓰고 원본 기록 ID를 답변에 연결합니다.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84F3654-069F-448A-86E0-513FC4D3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모듈형 백엔드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설정·DB·검색·기사 처리·추천 기능을 backend/app 모듈로 분리했습니다.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F1E65E8-C10C-465A-894F-04BB1B6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통합 실행 구조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Vue 화면이 FastAPI 백엔드와 통신하고 SSE로 검증된 답변을 표시합니다. Python 앱은 단일 프로세스입니다.</a:t>
            </a:r>
          </a:p>
        </p:txBody>
      </p:sp>
    </p:spTree>
    <p:extLst>
      <p:ext uri="{BB962C8B-B14F-4D97-AF65-F5344CB8AC3E}">
        <p14:creationId xmlns:p14="http://schemas.microsoft.com/office/powerpoint/2010/main" val="21321831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1C5EB6F-06B5-436D-BB66-34935312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9B0991E-467D-470C-B955-474370B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81BDC49-F68E-40F7-9888-FD94519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2CBB4FC-0C9C-48DD-A33A-4529C8A3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680F2DE-C8C7-4C40-A224-09BF5AFE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개인 기록 검색 Recall@3이 1.00으로 높아졌습니다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80DA3F1-C87E-4715-81B3-EEA4DF1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Recall@3
기존 0.950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F4FEE98-5040-4383-96C0-877C558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질의 p50
첫 인덱스 0.67초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E0CF778-8987-45DC-98F4-46ACD01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MRR
기존 0.925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F6CBA30-C96F-48C5-8FE2-9CAFDDAE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1.000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C25108B-D38D-4174-A54F-C2B7540D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0.942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2C6A37A-ACE8-4142-BCAA-0D04C43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0.160초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015DC30-7E6A-4481-9328-6EBCB42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합성 기록 14개 · 질문 20개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단어 검색과 비교해 top-3 recall과 MRR이 올랐습니다. 질문 임베딩에는 p50 약 160ms가 걸렸습니다.</a:t>
            </a:r>
          </a:p>
        </p:txBody>
      </p:sp>
    </p:spTree>
    <p:extLst>
      <p:ext uri="{BB962C8B-B14F-4D97-AF65-F5344CB8AC3E}">
        <p14:creationId xmlns:p14="http://schemas.microsoft.com/office/powerpoint/2010/main" val="17811289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0BBEB4D-B282-4A17-A758-F5B083B7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FACD559-4F68-4B7F-9D3C-2A69F29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E9E98B4-9305-4E0A-85DD-6F6B42C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5A4A931-FBC0-4404-8FD8-52EB038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B22A63D-55A0-4174-BD62-413D09E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검증기는 13개 합성 판정을 모두 맞췄습니다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4EFB94-6A3B-4301-8B73-F7F9F1DD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판정 일치
합성 fixture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43A9887-6103-490A-BB7D-D8B7F4C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최대 재작성
검증 p95 1.159초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E985E36-7484-4EAC-A6C6-2A2D6E78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51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근거 없는 답변 통과
6건 중 0건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43789D-A9F8-4A6B-9A03-986126E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 / 13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72B15E2-0572-4EE4-875C-E9DA0EB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/ 6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A74CB38-466D-4461-8CBC-FED46D8F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1회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6CD853A-FA66-4512-8241-C9E70C12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근거 판정 · gpt-4o-mini · 13개 사례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근거 있는 7건과 근거를 벗어난 6건을 구분했습니다. 일반 개념은 허용하고 임상·수치 주장은 근거로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640338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C3DF4A8-5A95-4219-B803-339C559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E878282-8414-4D39-8203-93BA696F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한 번의 수정으로 평가 목적과 임상 결과를 구분했습니다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4315053-C0F5-40AF-A672-CE842BDB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3E3547-FD5B-4777-B575-9D821F7C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2.2 기준선
3.19초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97E5EFB-D3EA-4ADC-8EE5-4A3EDE6C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Validator 미적용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미보고 사실은 설명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실행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4A90EDC6-5AB3-4C4A-BD00-7AA83CB4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1556521-0380-48C6-825E-7DC4757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3.0 후보
6.15초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4AB4302-817E-4A10-95D1-1B2455B3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Validator pass · 수정 1회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결과를 사실처럼 말하지 않음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실행 +2.96초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E90B8B7-FC15-48C1-A5D6-1A21FFDE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EVIDENCE-01 · 같은 합성 기사와 질문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기사는 안전성과 내약성을 평가하기 위한 초기 시험을 설명하고, 유효성 결과는 제공하지 않았습니다.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F3 후보는 첫 답변을 고친 뒤 “결과가 보고되지 않았다”고 답했습니다.</a:t>
            </a:r>
          </a:p>
        </p:txBody>
      </p:sp>
    </p:spTree>
    <p:extLst>
      <p:ext uri="{BB962C8B-B14F-4D97-AF65-F5344CB8AC3E}">
        <p14:creationId xmlns:p14="http://schemas.microsoft.com/office/powerpoint/2010/main" val="8897335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4B61E23-E0E1-4BAD-96FA-87580924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6100CB4-88D1-4369-86F4-9399A51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개인화·API·세션을 연결하고 F8 실험을 마쳤습니다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EC12AD4-7E41-4DA6-8BD6-ED9ECF71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FC2767B-BB78-4578-8197-1C51A95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B95360E-FCD4-440F-94C1-52413E7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3D88561-ACBD-4BBF-B689-E6D8FCDA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F5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7EA7EB0-91A5-4135-A94B-01DDAE15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F6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B0131AB-3B59-42F9-87A9-368CFA72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F7–F8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AB66D5C-C25B-427A-9D26-BEC5D0A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FastAPI · SSE · Vue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기사·채팅 API와 검증된 답변의 실시간 전달을 연결했습니다.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F2A25A1-6474-4259-BFB4-ABF9941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동적 후속 질문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직전 Q&amp;A와 학습 이력에 맞춰 서로 다른 학습 목적의 질문 3개를 추천합니다.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3870D30-AABE-495A-A18C-6DFD472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세션·이슈·Agent 평가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 격리·복원과 기사 이슈 관리를 구현했습니다.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Routing·MCP·병렬 채택 · Planner·Ollama 보류</a:t>
            </a:r>
          </a:p>
        </p:txBody>
      </p:sp>
    </p:spTree>
    <p:extLst>
      <p:ext uri="{BB962C8B-B14F-4D97-AF65-F5344CB8AC3E}">
        <p14:creationId xmlns:p14="http://schemas.microsoft.com/office/powerpoint/2010/main" val="12762953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1C5EB6F-06B5-436D-BB66-34935312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9B0991E-467D-470C-B955-474370B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81BDC49-F68E-40F7-9888-FD94519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2CBB4FC-0C9C-48DD-A33A-4529C8A3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680F2DE-C8C7-4C40-A224-09BF5AFE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라우팅은 24개 합성 질문에서 정확도 100%를 보였습니다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80DA3F1-C87E-4715-81B3-EEA4DF1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경로 정확도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23/24 → 24/24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F4FEE98-5040-4383-96C0-877C558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qwen3:0.6b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9/24 · p50 1.388초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E0CF778-8987-45DC-98F4-46ACD01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Planner p50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1.101 → 2.036초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F6CBA30-C96F-48C5-8FE2-9CAFDDAE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C25108B-D38D-4174-A54F-C2B7540D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+85%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2C6A37A-ACE8-4142-BCAA-0D04C43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37.5%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015DC30-7E6A-4481-9328-6EBCB42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합성 평가 · 동일 라우팅 질문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Planner는 선택 정확도 개선 없이 호출 2배·p50 +85%였습니다. qwen3:8b 구조화 호출 p50은 21.3–33.0초였습니다.</a:t>
            </a:r>
          </a:p>
        </p:txBody>
      </p:sp>
    </p:spTree>
    <p:extLst>
      <p:ext uri="{BB962C8B-B14F-4D97-AF65-F5344CB8AC3E}">
        <p14:creationId xmlns:p14="http://schemas.microsoft.com/office/powerpoint/2010/main" val="17811289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1C5EB6F-06B5-436D-BB66-34935312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9B0991E-467D-470C-B955-474370B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81BDC49-F68E-40F7-9888-FD94519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2CBB4FC-0C9C-48DD-A33A-4529C8A3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680F2DE-C8C7-4C40-A224-09BF5AFE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MCP와 병렬 검색은 채택해 재사용성과 지연을 개선했습니다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80DA3F1-C87E-4715-81B3-EEA4DF1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MCP p50 direct→stdio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0.317 → 1.010ms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F4FEE98-5040-4383-96C0-877C558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F8 결정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채택 3 · 보류 2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E0CF778-8987-45DC-98F4-46ACD010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memory+web p50</a:t>
            </a:r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166.60 → 84.60ms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F6CBA30-C96F-48C5-8FE2-9CAFDDAE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30/30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C25108B-D38D-4174-A54F-C2B7540D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−49.2%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2C6A37A-ACE8-4142-BCAA-0D04C43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/ 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015DC30-7E6A-4481-9328-6EBCB42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합성 데이터 기준 · MCP stdio 호출 30/30 성공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채택: Routing·MCP·병렬 실행 · 보류: Planner·Ollama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실제 Tavily API 종단 지연과 운영 트래픽은 측정하지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781128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2026-10-20T06:16:31.8090000Z</dcterms:created>
  <dcterms:modified xsi:type="dcterms:W3CDTF">2026-10-20T06:16:31.8090000Z</dcterms:modified>
</coreProperties>
</file>